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A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CLIMATE  /  EVIDENCE  BRIEFING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Warming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data says, what it costs, and what we can still do.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548640" cy="4572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PRESENTED BY  </a:t>
            </a:r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EverFern Research Desk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Source: IPCC AR6 (2021–2023) · NASA GISS · NOAA · IEA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5029200"/>
            <a:ext cx="4297680" cy="1371600"/>
          </a:xfrm>
          <a:prstGeom prst="rect">
            <a:avLst/>
          </a:prstGeom>
          <a:solidFill>
            <a:srgbClr val="111B2E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51206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+1.45 °C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452360" y="5852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mean surface warming above 1850–1900 baseline (2023).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  COVER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E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7FE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Signal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is running a fever. The thermometer agrees — and so does the ice.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548640" cy="45720"/>
          </a:xfrm>
          <a:prstGeom prst="rect">
            <a:avLst/>
          </a:prstGeom>
          <a:solidFill>
            <a:srgbClr val="7FE3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 THE SIGNAL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FF6A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HEADLINE NUMBER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+1.45 °C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above the 1850–1900 pre-industrial baseline, the warmest year ever instrumentally recorded.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0" y="1188720"/>
            <a:ext cx="2926080" cy="5029200"/>
          </a:xfrm>
          <a:prstGeom prst="rect">
            <a:avLst/>
          </a:prstGeom>
          <a:solidFill>
            <a:srgbClr val="111B2E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6A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1691640"/>
            <a:ext cx="2743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Paris Agreement target:
</a:t>
            </a:r>
            <a:pPr indent="0" marL="0">
              <a:buNone/>
            </a:pPr>
            <a:r>
              <a:rPr lang="en-US" sz="24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 °C
</a:t>
            </a:r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decade warming rate:
</a:t>
            </a:r>
            <a:pPr indent="0" marL="0">
              <a:buNone/>
            </a:pPr>
            <a:r>
              <a:rPr lang="en-US" sz="2400" b="1" dirty="0">
                <a:solidFill>
                  <a:srgbClr val="FFB3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0.22 °C / decade
</a:t>
            </a:r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CO₂ in atmosphere:
</a:t>
            </a:r>
            <a:pPr indent="0" marL="0">
              <a:buNone/>
            </a:pPr>
            <a:r>
              <a:rPr lang="en-US" sz="2400" b="1" dirty="0">
                <a:solidFill>
                  <a:srgbClr val="FF5C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422 ppm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 THE SIGNAL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E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7FE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TEMPERATURE ANOMALY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decade since 1980 has been warmer than the last.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114300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-914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°C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5029200"/>
            <a:ext cx="1005840" cy="182880"/>
          </a:xfrm>
          <a:prstGeom prst="rect">
            <a:avLst/>
          </a:prstGeom>
          <a:solidFill>
            <a:srgbClr val="7FE3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166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1880s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-0.20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5029200"/>
            <a:ext cx="1005840" cy="402336"/>
          </a:xfrm>
          <a:prstGeom prst="rect">
            <a:avLst/>
          </a:prstGeom>
          <a:solidFill>
            <a:srgbClr val="7FE3FF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5166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1900s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7452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-0.08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5029200"/>
            <a:ext cx="1005840" cy="365760"/>
          </a:xfrm>
          <a:prstGeom prst="rect">
            <a:avLst/>
          </a:prstGeom>
          <a:solidFill>
            <a:srgbClr val="7FE3F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5166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1920s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-0.10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4389120"/>
            <a:ext cx="1005840" cy="64008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5166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1940s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4340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+0.05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5029200"/>
            <a:ext cx="1005840" cy="512064"/>
          </a:xfrm>
          <a:prstGeom prst="rect">
            <a:avLst/>
          </a:prstGeom>
          <a:solidFill>
            <a:srgbClr val="7FE3FF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5166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1960s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-0.02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4114800"/>
            <a:ext cx="1005840" cy="91440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5166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1980s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3794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38160" y="3474720"/>
            <a:ext cx="1005840" cy="155448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5166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2000s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3154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+0.55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372600" y="2926080"/>
            <a:ext cx="1005840" cy="210312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29" name="Text 27"/>
          <p:cNvSpPr/>
          <p:nvPr/>
        </p:nvSpPr>
        <p:spPr>
          <a:xfrm>
            <a:off x="9281160" y="5166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2010s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28116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+0.85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607040" y="2103120"/>
            <a:ext cx="1005840" cy="2926080"/>
          </a:xfrm>
          <a:prstGeom prst="rect">
            <a:avLst/>
          </a:prstGeom>
          <a:solidFill>
            <a:srgbClr val="FF5C8A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0" y="5166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2020s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0" y="1783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+1.30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Source: NASA GISS Surface Temperature Analysis (GISTEMP v4).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 THE SIGNAL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Greenhouse Effect, in one loop.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103120" cy="1280160"/>
          </a:xfrm>
          <a:prstGeom prst="rect">
            <a:avLst/>
          </a:prstGeom>
          <a:solidFill>
            <a:srgbClr val="111B2E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3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Sunlight reaches Earth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1800000">
            <a:off x="2761488" y="2423160"/>
            <a:ext cx="164592" cy="274320"/>
          </a:xfrm>
          <a:prstGeom prst="rightTriangle">
            <a:avLst/>
          </a:prstGeom>
          <a:solidFill>
            <a:srgbClr val="FFB347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0" y="1920240"/>
            <a:ext cx="2103120" cy="1280160"/>
          </a:xfrm>
          <a:prstGeom prst="rect">
            <a:avLst/>
          </a:prstGeom>
          <a:solidFill>
            <a:srgbClr val="111B2E"/>
          </a:solidFill>
          <a:ln w="12700">
            <a:solidFill>
              <a:srgbClr val="FF6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06324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absorbs energy, warms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1800000">
            <a:off x="5047488" y="2423160"/>
            <a:ext cx="164592" cy="274320"/>
          </a:xfrm>
          <a:prstGeom prst="rightTriangle">
            <a:avLst/>
          </a:prstGeom>
          <a:solidFill>
            <a:srgbClr val="FF6A3D"/>
          </a:solidFill>
          <a:ln/>
        </p:spPr>
      </p:sp>
      <p:sp>
        <p:nvSpPr>
          <p:cNvPr id="13" name="Shape 11"/>
          <p:cNvSpPr/>
          <p:nvPr/>
        </p:nvSpPr>
        <p:spPr>
          <a:xfrm>
            <a:off x="5212080" y="1920240"/>
            <a:ext cx="2103120" cy="1280160"/>
          </a:xfrm>
          <a:prstGeom prst="rect">
            <a:avLst/>
          </a:prstGeom>
          <a:solidFill>
            <a:srgbClr val="111B2E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C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34924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 emits infrared (heat) upward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1800000">
            <a:off x="7333488" y="2423160"/>
            <a:ext cx="164592" cy="274320"/>
          </a:xfrm>
          <a:prstGeom prst="rightTriangle">
            <a:avLst/>
          </a:prstGeom>
          <a:solidFill>
            <a:srgbClr val="FF5C8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0" y="1920240"/>
            <a:ext cx="2103120" cy="1280160"/>
          </a:xfrm>
          <a:prstGeom prst="rect">
            <a:avLst/>
          </a:prstGeom>
          <a:solidFill>
            <a:srgbClr val="111B2E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C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63524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CO₂, CH₄, N₂O trap outgoing heat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1800000">
            <a:off x="9619488" y="2423160"/>
            <a:ext cx="164592" cy="274320"/>
          </a:xfrm>
          <a:prstGeom prst="rightTriangle">
            <a:avLst/>
          </a:prstGeom>
          <a:solidFill>
            <a:srgbClr val="FF5C8A"/>
          </a:solidFill>
          <a:ln/>
        </p:spPr>
      </p:sp>
      <p:sp>
        <p:nvSpPr>
          <p:cNvPr id="21" name="Shape 19"/>
          <p:cNvSpPr/>
          <p:nvPr/>
        </p:nvSpPr>
        <p:spPr>
          <a:xfrm>
            <a:off x="9784080" y="1920240"/>
            <a:ext cx="2103120" cy="1280160"/>
          </a:xfrm>
          <a:prstGeom prst="rect">
            <a:avLst/>
          </a:prstGeom>
          <a:solidFill>
            <a:srgbClr val="111B2E"/>
          </a:solidFill>
          <a:ln w="12700">
            <a:solidFill>
              <a:srgbClr val="FF6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212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92124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atmosphere warms further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1097280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self-reinforcing loop — but with a knob: the concentration of greenhouse gases.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solidFill>
            <a:srgbClr val="111B2E"/>
          </a:solidFill>
          <a:ln w="6350">
            <a:solidFill>
              <a:srgbClr val="22304A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892040"/>
          <a:ext cx="10515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2743200"/>
                <a:gridCol w="3657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GAS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PRE-INDUSTRIAL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TODAY (2023)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WARMING POTENTIAL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4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CO₂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280 ppm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422 ppm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1× (reference)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4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CH₄ (methane)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700 ppb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1,920 ppb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~80× over 20 yrs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F4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N₂O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270 ppb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337 ppb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F4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~273× over 100 yrs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 HOW IT WORKS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C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FF5C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Damage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Warmer air holds more water. Oceans rise. Ice retreats. The bill comes due.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548640" cy="45720"/>
          </a:xfrm>
          <a:prstGeom prst="rect">
            <a:avLst/>
          </a:prstGeom>
          <a:solidFill>
            <a:srgbClr val="FF5C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 THE DAMAGE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C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FF5C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WHAT'S CHANGING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signals you can already see.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2286000"/>
          </a:xfrm>
          <a:prstGeom prst="rect">
            <a:avLst/>
          </a:prstGeom>
          <a:solidFill>
            <a:srgbClr val="111B2E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00" cy="45720"/>
          </a:xfrm>
          <a:prstGeom prst="rect">
            <a:avLst/>
          </a:prstGeom>
          <a:solidFill>
            <a:srgbClr val="FF5C8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C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 LEVEL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+21 cm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3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 1880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has tripled to ~4.5 mm/yr since the 1990s. 410 million people live below 10 m of elevation.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645920"/>
            <a:ext cx="5486400" cy="2286000"/>
          </a:xfrm>
          <a:prstGeom prst="rect">
            <a:avLst/>
          </a:prstGeom>
          <a:solidFill>
            <a:srgbClr val="111B2E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645920"/>
            <a:ext cx="5486400" cy="45720"/>
          </a:xfrm>
          <a:prstGeom prst="rect">
            <a:avLst/>
          </a:prstGeom>
          <a:solidFill>
            <a:srgbClr val="FF5C8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828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C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ARCTIC SEA ICE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21031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−13 %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446520" y="2880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3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decade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32004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Late-summer minimum has shrunk by roughly two-thirds since the 1980s. Ice-free summers are plausible before 2050.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486400" cy="2286000"/>
          </a:xfrm>
          <a:prstGeom prst="rect">
            <a:avLst/>
          </a:prstGeom>
          <a:solidFill>
            <a:srgbClr val="111B2E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14800"/>
            <a:ext cx="5486400" cy="45720"/>
          </a:xfrm>
          <a:prstGeom prst="rect">
            <a:avLst/>
          </a:prstGeom>
          <a:solidFill>
            <a:srgbClr val="FF5C8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97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C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HEAT EXTREMES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10×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22960" y="5349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3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frequent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669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once-in-a-decade heat event is now ~10× more likely across most land regions. 2023 was the hottest year on land.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4114800"/>
            <a:ext cx="5486400" cy="2286000"/>
          </a:xfrm>
          <a:prstGeom prst="rect">
            <a:avLst/>
          </a:prstGeom>
          <a:solidFill>
            <a:srgbClr val="111B2E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4114800"/>
            <a:ext cx="5486400" cy="45720"/>
          </a:xfrm>
          <a:prstGeom prst="rect">
            <a:avLst/>
          </a:prstGeom>
          <a:solidFill>
            <a:srgbClr val="FF5C8A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297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C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OCEAN HEAT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4572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+1.5 °C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6446520" y="5349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3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ocean (0–2000 m)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669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ocean has absorbed ~90 % of the excess heat. Warmer water expands and bleaches reefs at unprecedented scale.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Sources: IPCC AR6 WG1; NOAA Climate.gov; NSIDC Sea Ice Index; WMO State of the Global Climate 2023.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 THE DAMAGE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FF6A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REGIONAL HOTSPOTS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Warming is not uniform. Land warms faster than ocean. The Arctic warms fastest of all.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average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1.0× faster  ·  ~1.4 °C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37760" y="2514600"/>
            <a:ext cx="7315200" cy="457200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0" y="2514600"/>
            <a:ext cx="2651760" cy="45720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 only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1.6× faster  ·  ~2.3 °C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3337560"/>
            <a:ext cx="7315200" cy="457200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3337560"/>
            <a:ext cx="4206240" cy="45720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Northern Hemisphere land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1.8× faster  ·  ~2.6 °C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4160520"/>
            <a:ext cx="7315200" cy="457200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4160520"/>
            <a:ext cx="4754880" cy="457200"/>
          </a:xfrm>
          <a:prstGeom prst="rect">
            <a:avLst/>
          </a:prstGeom>
          <a:solidFill>
            <a:srgbClr val="FF5C8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46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Arctic (Arctic Circle)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3.5× faster  ·  ~4.0 °C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4983480"/>
            <a:ext cx="7315200" cy="457200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4983480"/>
            <a:ext cx="7315200" cy="457200"/>
          </a:xfrm>
          <a:prstGeom prst="rect">
            <a:avLst/>
          </a:prstGeom>
          <a:solidFill>
            <a:srgbClr val="FF5C8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Arctic amplification: as ice and snow retreat, dark ocean and land absorb more sunlight, accelerating regional warming.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 THE DAMAGE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FFB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THE EMISSIONS COME FROM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humans put the CO₂ in the first place.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 (electricity &amp; heat)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34 %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0" y="1920240"/>
            <a:ext cx="5943600" cy="365760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0" y="1920240"/>
            <a:ext cx="5052060" cy="365760"/>
          </a:xfrm>
          <a:prstGeom prst="rect">
            <a:avLst/>
          </a:prstGeom>
          <a:solidFill>
            <a:srgbClr val="FF5C8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23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15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2514600"/>
            <a:ext cx="5943600" cy="365760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2514600"/>
            <a:ext cx="3566160" cy="36576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3101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3108960"/>
            <a:ext cx="5943600" cy="365760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3108960"/>
            <a:ext cx="2228850" cy="36576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9044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3703320"/>
            <a:ext cx="5943600" cy="365760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0" y="3703320"/>
            <a:ext cx="891540" cy="36576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Agriculture &amp; land use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4988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4297680"/>
            <a:ext cx="5943600" cy="365760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4297680"/>
            <a:ext cx="2674620" cy="365760"/>
          </a:xfrm>
          <a:prstGeom prst="rect">
            <a:avLst/>
          </a:prstGeom>
          <a:solidFill>
            <a:srgbClr val="7FE3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800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0932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4892040"/>
            <a:ext cx="5943600" cy="365760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0" y="4892040"/>
            <a:ext cx="445770" cy="365760"/>
          </a:xfrm>
          <a:prstGeom prst="rect">
            <a:avLst/>
          </a:prstGeom>
          <a:solidFill>
            <a:srgbClr val="9AA7B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greenhouse-gas emissions by sector, 2022. Energy still dominates — and that is also where the cheapest cuts live.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Source: IEA, Greenhouse Gas Emissions from Energy Highlights (2023); IPCC AR6 WG3.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 CAUSES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E3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7FE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 FUTURES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planet, two very different worlds.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03520" cy="4389120"/>
          </a:xfrm>
          <a:prstGeom prst="rect">
            <a:avLst/>
          </a:prstGeom>
          <a:solidFill>
            <a:srgbClr val="111B2E"/>
          </a:solidFill>
          <a:ln w="12700">
            <a:solidFill>
              <a:srgbClr val="5DD3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5303520" cy="54864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DD3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1.5 °C PATH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Manageable, but tight.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Coral reefs survive, but are diminished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Sea-ice-free Arctic summers: ~1 / century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Heatwaves: ~4× more likely vs. pre-industrial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Food &amp; water stress: significant but localized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B3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Requires emissions cut ~50 % by 2030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solidFill>
            <a:srgbClr val="111B2E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645920"/>
            <a:ext cx="5303520" cy="54864"/>
          </a:xfrm>
          <a:prstGeom prst="rect">
            <a:avLst/>
          </a:prstGeom>
          <a:solidFill>
            <a:srgbClr val="FF5C8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74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C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°C PATH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Cascading, costly, irreversible.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283464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100 % of coral reefs lost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Ice-free Arctic summers: every decade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Multi-meter sea-level rise over centuries
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Hundreds of millions exposed to chronic drought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5C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 Estimated GDP impact: 10–20 % globally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Source: IPCC AR6 WG2 (Impacts, Adaptation and Vulnerability); Climate Impact Lab.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 WHAT'S AT STAKE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DD3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WE CAN STILL 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proven levers. None of them are magic. All of them compound.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240280" cy="3657600"/>
          </a:xfrm>
          <a:prstGeom prst="rect">
            <a:avLst/>
          </a:prstGeom>
          <a:solidFill>
            <a:srgbClr val="111B2E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2240280" cy="4572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3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electricity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1874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Wind, solar, storage, and modern grids replace coal and gas.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98648" y="2011680"/>
            <a:ext cx="2240280" cy="3657600"/>
          </a:xfrm>
          <a:prstGeom prst="rect">
            <a:avLst/>
          </a:prstGeom>
          <a:solidFill>
            <a:srgbClr val="111B2E"/>
          </a:solidFill>
          <a:ln w="12700">
            <a:solidFill>
              <a:srgbClr val="7FE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98648" y="2011680"/>
            <a:ext cx="2240280" cy="45720"/>
          </a:xfrm>
          <a:prstGeom prst="rect">
            <a:avLst/>
          </a:prstGeom>
          <a:solidFill>
            <a:srgbClr val="7FE3FF"/>
          </a:solidFill>
          <a:ln/>
        </p:spPr>
      </p:sp>
      <p:sp>
        <p:nvSpPr>
          <p:cNvPr id="12" name="Text 10"/>
          <p:cNvSpPr/>
          <p:nvPr/>
        </p:nvSpPr>
        <p:spPr>
          <a:xfrm>
            <a:off x="3081528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FE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081528" y="28346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Electrify everything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81528" y="3566160"/>
            <a:ext cx="1874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EVs, heat pumps, induction cooking — clean power at the point of use.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48656" y="2011680"/>
            <a:ext cx="2240280" cy="3657600"/>
          </a:xfrm>
          <a:prstGeom prst="rect">
            <a:avLst/>
          </a:prstGeom>
          <a:solidFill>
            <a:srgbClr val="111B2E"/>
          </a:solidFill>
          <a:ln w="12700">
            <a:solidFill>
              <a:srgbClr val="5DD3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48656" y="2011680"/>
            <a:ext cx="2240280" cy="45720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17" name="Text 15"/>
          <p:cNvSpPr/>
          <p:nvPr/>
        </p:nvSpPr>
        <p:spPr>
          <a:xfrm>
            <a:off x="5431536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DD3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431536" y="28346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systems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31536" y="3566160"/>
            <a:ext cx="1874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buildings, transit, and industrial processes cut demand by 20–40 %.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98664" y="2011680"/>
            <a:ext cx="2240280" cy="3657600"/>
          </a:xfrm>
          <a:prstGeom prst="rect">
            <a:avLst/>
          </a:prstGeom>
          <a:solidFill>
            <a:srgbClr val="111B2E"/>
          </a:solidFill>
          <a:ln w="12700">
            <a:solidFill>
              <a:srgbClr val="5DD3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98664" y="2011680"/>
            <a:ext cx="2240280" cy="45720"/>
          </a:xfrm>
          <a:prstGeom prst="rect">
            <a:avLst/>
          </a:prstGeom>
          <a:solidFill>
            <a:srgbClr val="5DD39E"/>
          </a:solidFill>
          <a:ln/>
        </p:spPr>
      </p:sp>
      <p:sp>
        <p:nvSpPr>
          <p:cNvPr id="22" name="Text 20"/>
          <p:cNvSpPr/>
          <p:nvPr/>
        </p:nvSpPr>
        <p:spPr>
          <a:xfrm>
            <a:off x="7781544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DD3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781544" y="28346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nature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81544" y="3566160"/>
            <a:ext cx="1874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Forests, wetlands, and soils store carbon — and they're being lost.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948672" y="2011680"/>
            <a:ext cx="2240280" cy="3657600"/>
          </a:xfrm>
          <a:prstGeom prst="rect">
            <a:avLst/>
          </a:prstGeom>
          <a:solidFill>
            <a:srgbClr val="111B2E"/>
          </a:solidFill>
          <a:ln w="12700">
            <a:solidFill>
              <a:srgbClr val="7FE3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48672" y="2011680"/>
            <a:ext cx="2240280" cy="45720"/>
          </a:xfrm>
          <a:prstGeom prst="rect">
            <a:avLst/>
          </a:prstGeom>
          <a:solidFill>
            <a:srgbClr val="7FE3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131552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FE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0131552" y="28346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Innovate &amp; adapt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131552" y="3566160"/>
            <a:ext cx="1874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air capture, climate-resilient crops, and infrastructure that lasts.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IEA's Net Zero pathway: these five levers, deployed at speed, keep 1.5 °C within reach.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 THE LEVERS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FF6A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“We are the first generation to feel the impact of climate change, and the last generation that can do something about it.”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548640" cy="4572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 Ki-moon, 8th Secretary-General of the United Nations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solidFill>
            <a:srgbClr val="111B2E"/>
          </a:solidFill>
          <a:ln w="6350">
            <a:solidFill>
              <a:srgbClr val="22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A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544068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warming is no longer a forecast. It is a measured, multi-system reality. The physics is settled. The economics is becoming clear. The choice is political — and it is still ours.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 you.  ·  EverFern Research Desk  ·  Sources: IPCC AR6, NASA GISS, NOAA, IEA, WMO.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 CLOSING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A7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EverFern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Warming: An Evidence Briefing</dc:title>
  <dc:subject>Climate Science Briefing</dc:subject>
  <dc:creator>EverFern Research</dc:creator>
  <cp:lastModifiedBy>EverFern Research</cp:lastModifiedBy>
  <cp:revision>1</cp:revision>
  <dcterms:created xsi:type="dcterms:W3CDTF">2026-06-10T11:42:39Z</dcterms:created>
  <dcterms:modified xsi:type="dcterms:W3CDTF">2026-06-10T11:42:39Z</dcterms:modified>
</cp:coreProperties>
</file>